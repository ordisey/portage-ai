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PER">
    <p:bg>
      <p:bgPr>
        <a:solidFill>
          <a:srgbClr val="F2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B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5074920"/>
            <a:ext cx="868680" cy="-45720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9189720" y="4617720"/>
            <a:ext cx="731520" cy="59436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9921240" y="5212080"/>
            <a:ext cx="822960" cy="-50292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0744200" y="4709160"/>
            <a:ext cx="731520" cy="64008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57032" y="501091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7" name="Shape 5"/>
          <p:cNvSpPr/>
          <p:nvPr/>
        </p:nvSpPr>
        <p:spPr>
          <a:xfrm>
            <a:off x="9125712" y="455371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8" name="Shape 6"/>
          <p:cNvSpPr/>
          <p:nvPr/>
        </p:nvSpPr>
        <p:spPr>
          <a:xfrm>
            <a:off x="9857232" y="514807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9" name="Shape 7"/>
          <p:cNvSpPr/>
          <p:nvPr/>
        </p:nvSpPr>
        <p:spPr>
          <a:xfrm>
            <a:off x="10680192" y="464515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712" y="5285232"/>
            <a:ext cx="128016" cy="128016"/>
          </a:xfrm>
          <a:prstGeom prst="ellipse">
            <a:avLst/>
          </a:prstGeom>
          <a:solidFill>
            <a:srgbClr val="E3AB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AI AGENT ENGINEER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Portage AI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8803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operations layer for freight &amp; logistics teams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 ·  Top 3 agentic functions  ·  Scoping pack  ·  Interactive prototype  ·  GitHub repo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9893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Teoh Capital / SIMBA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Dijae  ·  dijae0@gmail.com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freight operations copilot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fixes the domain — an AI-first agentic logistics app. “Logistics” is broad enough to hide the real question, so this POC narrows to one sharp vertical rather than a generic tracker.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27000" dist="38100" dir="5400000">
              <a:srgbClr val="10191E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31343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68680" y="2770632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724912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product roadmap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392424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346704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3649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top 3 agentic functions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014216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68496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9867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scoping pack (this deck)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4636008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59028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60857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basic, interactive prototype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68680" y="5257800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521208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52303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 GitHub repository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2057400"/>
            <a:ext cx="5468112" cy="4160520"/>
          </a:xfrm>
          <a:prstGeom prst="roundRect">
            <a:avLst>
              <a:gd name="adj" fmla="val 2198"/>
            </a:avLst>
          </a:prstGeom>
          <a:solidFill>
            <a:srgbClr val="0B141A"/>
          </a:solidFill>
          <a:ln/>
          <a:effectLst>
            <a:outerShdw sx="100000" sy="100000" kx="0" ky="0" algn="bl" rotWithShape="0" blurRad="152400" dist="50800" dir="5400000">
              <a:srgbClr val="10191E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92240" y="231343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715768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to a freight / parcel operations copilot — the sharpest small system to prove exactly what this role asks for: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92240" y="3840480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98280" y="3840480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98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92240" y="4352544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0" y="43525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retrieval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98280" y="4352544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98280" y="43525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92240" y="4864608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92240" y="4864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98280" y="4864608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098280" y="4864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5550408"/>
            <a:ext cx="4828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mocked tool call in the prototype maps to a named real integration — see the repo's docs/AGENTS.md.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Now, Next, Later — paced by evidence, not a calendar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01600" dist="25400" dir="5400000">
              <a:srgbClr val="1019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55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011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4144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agents reason correctly on realistic scenarios, with guardrails, before touching a live system.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52044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4728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interactive prototype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tool contracts for all 3 agents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4581144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45079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~20–30 golden eval scenarios / agent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5230368"/>
            <a:ext cx="3063240" cy="685800"/>
          </a:xfrm>
          <a:prstGeom prst="roundRect">
            <a:avLst>
              <a:gd name="adj" fmla="val 8000"/>
            </a:avLst>
          </a:prstGeom>
          <a:solidFill>
            <a:srgbClr val="0E7C86">
              <a:alpha val="10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 </a:t>
            </a:r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pass rate + reviewer feedback justify a real pilot.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79976" y="1481328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01600" dist="25400" dir="5400000">
              <a:srgbClr val="10191E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54296" y="1755648"/>
            <a:ext cx="457200" cy="457200"/>
          </a:xfrm>
          <a:prstGeom prst="ellipse">
            <a:avLst/>
          </a:prstGeom>
          <a:solidFill>
            <a:srgbClr val="B8720B">
              <a:alpha val="15000"/>
            </a:srgbClr>
          </a:solidFill>
          <a:ln w="15875">
            <a:solidFill>
              <a:srgbClr val="B872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54296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2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48656" y="1755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48656" y="2011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 partner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654296" y="244144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mocked tools with real integrations on one contained lane — human approves every action.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54296" y="3520440"/>
            <a:ext cx="64008" cy="64008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37176" y="344728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real TMS / carrier / EDI APIs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54296" y="4050792"/>
            <a:ext cx="64008" cy="64008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37176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guardrail thresholds on real decisions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654296" y="4581144"/>
            <a:ext cx="64008" cy="64008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37176" y="45079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cost + latency, not just accuracy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54296" y="5230368"/>
            <a:ext cx="3063240" cy="685800"/>
          </a:xfrm>
          <a:prstGeom prst="roundRect">
            <a:avLst>
              <a:gd name="adj" fmla="val 8000"/>
            </a:avLst>
          </a:prstGeom>
          <a:solidFill>
            <a:srgbClr val="B8720B">
              <a:alpha val="10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91456" y="527608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7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 </a:t>
            </a:r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recs match a human ops lead ≥90% of the time.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11312" y="1481328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01600" dist="25400" dir="5400000">
              <a:srgbClr val="10191E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85632" y="1755648"/>
            <a:ext cx="457200" cy="457200"/>
          </a:xfrm>
          <a:prstGeom prst="ellipse">
            <a:avLst/>
          </a:prstGeom>
          <a:solidFill>
            <a:srgbClr val="7C5CBF">
              <a:alpha val="15000"/>
            </a:srgbClr>
          </a:solidFill>
          <a:ln w="15875">
            <a:solidFill>
              <a:srgbClr val="7C5CB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85632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5C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79992" y="1755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2011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autonomy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485632" y="244144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auto-execution for guardrail-cleared paths; widen from one lane to the full book of business.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85632" y="3520440"/>
            <a:ext cx="64008" cy="64008"/>
          </a:xfrm>
          <a:prstGeom prst="ellipse">
            <a:avLst/>
          </a:prstGeom>
          <a:solidFill>
            <a:srgbClr val="7C5CB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668512" y="344728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Auto-execute only what Next proved safe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485632" y="4050792"/>
            <a:ext cx="64008" cy="64008"/>
          </a:xfrm>
          <a:prstGeom prst="ellipse">
            <a:avLst/>
          </a:prstGeom>
          <a:solidFill>
            <a:srgbClr val="7C5CB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668512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Per-account guardrail tuning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485632" y="4581144"/>
            <a:ext cx="64008" cy="64008"/>
          </a:xfrm>
          <a:prstGeom prst="ellipse">
            <a:avLst/>
          </a:prstGeom>
          <a:solidFill>
            <a:srgbClr val="7C5CB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668512" y="45079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eval regression suite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485632" y="5230368"/>
            <a:ext cx="3063240" cy="685800"/>
          </a:xfrm>
          <a:prstGeom prst="roundRect">
            <a:avLst>
              <a:gd name="adj" fmla="val 8000"/>
            </a:avLst>
          </a:prstGeom>
          <a:solidFill>
            <a:srgbClr val="7C5CBF">
              <a:alpha val="1000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622792" y="527608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 </a:t>
            </a:r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Paced per-surface by trust earned in Next.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3 AGENTIC FUNCTIONS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shipment, three agents, one human approval queue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4480560"/>
          </a:xfrm>
          <a:prstGeom prst="roundRect">
            <a:avLst>
              <a:gd name="adj" fmla="val 2532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Lane Agent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shipments: parses the request, ranks compliant carriers against live rates and routing rules, books or escalates.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41148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use: rates &amp; booking APIs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599432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59943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rate-variance cap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5084064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084064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HITL: escalates above threshold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79976" y="1600200"/>
            <a:ext cx="3611880" cy="4480560"/>
          </a:xfrm>
          <a:prstGeom prst="roundRect">
            <a:avLst>
              <a:gd name="adj" fmla="val 2532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54296" y="1874520"/>
            <a:ext cx="502920" cy="502920"/>
          </a:xfrm>
          <a:prstGeom prst="ellipse">
            <a:avLst/>
          </a:prstGeom>
          <a:solidFill>
            <a:srgbClr val="E3AB41">
              <a:alpha val="15000"/>
            </a:srgbClr>
          </a:solidFill>
          <a:ln w="15875">
            <a:solidFill>
              <a:srgbClr val="E3AB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5429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E3A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4654296" y="2514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Agent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in-transit shipments: detects exceptions, diagnoses cause, proposes ranked remediation options.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54296" y="411480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41148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use: tracking &amp; EDI feeds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54296" y="4599432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791456" y="459943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cost-impact cap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54296" y="5084064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91456" y="5084064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HITL: never auto-cancels/claims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11312" y="1600200"/>
            <a:ext cx="3611880" cy="4480560"/>
          </a:xfrm>
          <a:prstGeom prst="roundRect">
            <a:avLst>
              <a:gd name="adj" fmla="val 2532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85632" y="1874520"/>
            <a:ext cx="502920" cy="502920"/>
          </a:xfrm>
          <a:prstGeom prst="ellipse">
            <a:avLst/>
          </a:prstGeom>
          <a:solidFill>
            <a:srgbClr val="B79CE8">
              <a:alpha val="15000"/>
            </a:srgbClr>
          </a:solidFill>
          <a:ln w="15875">
            <a:solidFill>
              <a:srgbClr val="B79C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856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B79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430" dirty="0"/>
          </a:p>
        </p:txBody>
      </p:sp>
      <p:sp>
        <p:nvSpPr>
          <p:cNvPr id="29" name="Text 27"/>
          <p:cNvSpPr txBox="1"/>
          <p:nvPr/>
        </p:nvSpPr>
        <p:spPr>
          <a:xfrm>
            <a:off x="8485632" y="2514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 &amp; Comms Agent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485632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paperwork against the shipment record and drafts plain-language customer updates.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485632" y="411480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22792" y="41148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use: document extraction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485632" y="4599432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22792" y="459943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materiality threshold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85632" y="5084064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622792" y="5084064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HITL: approves before send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pattern, three agents — tool use, memory, guardrails, HITL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65960" cy="457200"/>
          </a:xfrm>
          <a:prstGeom prst="rect">
            <a:avLst/>
          </a:prstGeom>
          <a:solidFill>
            <a:srgbClr val="F2F5F6"/>
          </a:solidFill>
          <a:ln/>
        </p:spPr>
      </p:sp>
      <p:sp>
        <p:nvSpPr>
          <p:cNvPr id="5" name="Shape 3"/>
          <p:cNvSpPr/>
          <p:nvPr/>
        </p:nvSpPr>
        <p:spPr>
          <a:xfrm>
            <a:off x="2514600" y="1508760"/>
            <a:ext cx="3044952" cy="457200"/>
          </a:xfrm>
          <a:prstGeom prst="rect">
            <a:avLst/>
          </a:prstGeom>
          <a:solidFill>
            <a:srgbClr val="0B14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5087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Lane Agent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59552" y="1508760"/>
            <a:ext cx="3044952" cy="457200"/>
          </a:xfrm>
          <a:prstGeom prst="rect">
            <a:avLst/>
          </a:prstGeom>
          <a:solidFill>
            <a:srgbClr val="0B14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96712" y="15087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Agent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04504" y="1508760"/>
            <a:ext cx="3035808" cy="457200"/>
          </a:xfrm>
          <a:prstGeom prst="rect">
            <a:avLst/>
          </a:prstGeom>
          <a:solidFill>
            <a:srgbClr val="0B14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41664" y="1508760"/>
            <a:ext cx="2761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9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 &amp; Comms Agent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1965960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19659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14600" y="1965960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51760" y="196596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shipment request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59552" y="1965960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96712" y="196596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/ EDI event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04504" y="1965960"/>
            <a:ext cx="3035808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41664" y="1965960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received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624328"/>
            <a:ext cx="1965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62432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514600" y="2624328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51760" y="262432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· compliance · booking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59552" y="2624328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96712" y="262432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· alt-routing · remediation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604504" y="2624328"/>
            <a:ext cx="303580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41664" y="262432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· diff · send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282696"/>
            <a:ext cx="1965960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32826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514600" y="3282696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651760" y="3282696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routing preferences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59552" y="3282696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96712" y="3282696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delay history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604504" y="3282696"/>
            <a:ext cx="3035808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41664" y="3282696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document trail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3941064"/>
            <a:ext cx="1965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9410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(RAG)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514600" y="3941064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51760" y="3941064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routing rules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559552" y="3941064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96712" y="3941064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&amp; SLA playbooks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604504" y="3941064"/>
            <a:ext cx="303580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41664" y="3941064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tone &amp; comms history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4599432"/>
            <a:ext cx="1965960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45994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2514600" y="4599432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651760" y="4599432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variance &gt; 15%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559552" y="4599432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696712" y="4599432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impact &gt; $250 / customs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604504" y="4599432"/>
            <a:ext cx="3035808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741664" y="4599432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&gt; materiality %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8640" y="5257800"/>
            <a:ext cx="1965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257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2514600" y="5257800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651760" y="525780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Escalates above threshold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559552" y="5257800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696712" y="525780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Auto-fixes low risk only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604504" y="5257800"/>
            <a:ext cx="303580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741664" y="5257800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every send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orchestration pattern, shared memory, one approval queue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745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20240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shipment request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18745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788920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/ EDI event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18745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657600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received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23160" y="224942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423160" y="311810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23160" y="398678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1554480"/>
            <a:ext cx="3246120" cy="2880360"/>
          </a:xfrm>
          <a:prstGeom prst="roundRect">
            <a:avLst>
              <a:gd name="adj" fmla="val 3175"/>
            </a:avLst>
          </a:prstGeom>
          <a:solidFill>
            <a:srgbClr val="0B14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91840" y="17373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19933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act → observe → escalate-or-continue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91840" y="2423160"/>
            <a:ext cx="365760" cy="365760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918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04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Agent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91840" y="3044952"/>
            <a:ext cx="365760" cy="365760"/>
          </a:xfrm>
          <a:prstGeom prst="ellipse">
            <a:avLst/>
          </a:prstGeom>
          <a:solidFill>
            <a:srgbClr val="E3AB41">
              <a:alpha val="15000"/>
            </a:srgbClr>
          </a:solidFill>
          <a:ln w="15875">
            <a:solidFill>
              <a:srgbClr val="E3AB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3044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E3A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104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04495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91840" y="3666744"/>
            <a:ext cx="365760" cy="365760"/>
          </a:xfrm>
          <a:prstGeom prst="ellipse">
            <a:avLst/>
          </a:prstGeom>
          <a:solidFill>
            <a:srgbClr val="B79CE8">
              <a:alpha val="15000"/>
            </a:srgbClr>
          </a:solidFill>
          <a:ln w="15875">
            <a:solidFill>
              <a:srgbClr val="B79C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9184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B79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3749040" y="36667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&amp; Comms Agent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09360" y="224942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309360" y="311810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09360" y="398678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693408" y="1554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LAYER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93408" y="1920240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03136" y="192024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rate &amp; booking API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693408" y="2578608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03136" y="2578608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/ EDI feed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693408" y="3236976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03136" y="3236976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extraction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693408" y="3895344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03136" y="3895344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&amp; policy RAG store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189720" y="155448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189720" y="1920240"/>
            <a:ext cx="2450592" cy="512064"/>
          </a:xfrm>
          <a:prstGeom prst="roundRect">
            <a:avLst>
              <a:gd name="adj" fmla="val 12500"/>
            </a:avLst>
          </a:prstGeom>
          <a:solidFill>
            <a:srgbClr val="FBF0DD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99448" y="192024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4A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 memory store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189720" y="2578608"/>
            <a:ext cx="2450592" cy="512064"/>
          </a:xfrm>
          <a:prstGeom prst="roundRect">
            <a:avLst>
              <a:gd name="adj" fmla="val 12500"/>
            </a:avLst>
          </a:prstGeom>
          <a:solidFill>
            <a:srgbClr val="FBF0DD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99448" y="257860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4A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queue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189720" y="3236976"/>
            <a:ext cx="2450592" cy="512064"/>
          </a:xfrm>
          <a:prstGeom prst="roundRect">
            <a:avLst>
              <a:gd name="adj" fmla="val 12500"/>
            </a:avLst>
          </a:prstGeom>
          <a:solidFill>
            <a:srgbClr val="FBF0DD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99448" y="32369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4A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86300" y="4434840"/>
            <a:ext cx="0" cy="320040"/>
          </a:xfrm>
          <a:prstGeom prst="line">
            <a:avLst/>
          </a:prstGeom>
          <a:noFill/>
          <a:ln w="15875">
            <a:solidFill>
              <a:srgbClr val="55686E"/>
            </a:solidFill>
            <a:prstDash val="dash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4137660" y="44622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E6EDE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77240" y="505663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fake capability invented for the demo.  </a:t>
            </a:r>
            <a:pPr indent="0" marL="0">
              <a:buNone/>
            </a:pPr>
            <a:r>
              <a:rPr lang="en-US" sz="11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mocked tool call in the prototype maps to a named real integration point — the path from POC to pilot is a list of integrations, not a redesign. All three agents read and write one shipment record, and every escalation lands in one human queue with the same shape: option(s), rationale, cost/risk delta.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BY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ops can see, and an eval pipeline that proves the agents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— CONFIGURABLE, NOT BURIED IN A PROMPT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20240"/>
            <a:ext cx="73152" cy="71323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Auto-book rate variance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920240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5349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70632"/>
            <a:ext cx="73152" cy="713232"/>
          </a:xfrm>
          <a:prstGeom prst="rect">
            <a:avLst/>
          </a:prstGeom>
          <a:solidFill>
            <a:srgbClr val="B8720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862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136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Auto-remediate cost cap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770632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72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621024"/>
            <a:ext cx="5349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621024"/>
            <a:ext cx="73152" cy="713232"/>
          </a:xfrm>
          <a:prstGeom prst="rect">
            <a:avLst/>
          </a:prstGeom>
          <a:solidFill>
            <a:srgbClr val="7C5C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7124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&amp; Comms Agent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986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materiality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3621024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C5C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1.5%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517136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E6EDE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517136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/ regulatory document changes always require human sign-off — regardless of threshold.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1508760"/>
            <a:ext cx="5468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EVALUATE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196596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25" name="Text 23"/>
          <p:cNvSpPr txBox="1"/>
          <p:nvPr/>
        </p:nvSpPr>
        <p:spPr>
          <a:xfrm>
            <a:off x="6702552" y="193852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scenarios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702552" y="222199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~20–30 hand-built cases per agent — happy path, escalation path, edge cases.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283464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29" name="Text 27"/>
          <p:cNvSpPr txBox="1"/>
          <p:nvPr/>
        </p:nvSpPr>
        <p:spPr>
          <a:xfrm>
            <a:off x="6702552" y="280720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checks first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702552" y="309067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violations, threshold breaches, schema validity — deterministic, no judge needed.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72200" y="370332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02552" y="367588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for the rest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702552" y="395935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quality and drafted-comms tone, spot-checked by a human to catch judge drift.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72200" y="457200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7220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37" name="Text 35"/>
          <p:cNvSpPr txBox="1"/>
          <p:nvPr/>
        </p:nvSpPr>
        <p:spPr>
          <a:xfrm>
            <a:off x="6702552" y="454456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shadow metrics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702552" y="482803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human approve/reject becomes a labeled example — free signal from the HITL design.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PROTOTYPE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console, not a mockup — click through it yourself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360920" cy="4572000"/>
          </a:xfrm>
          <a:prstGeom prst="roundRect">
            <a:avLst>
              <a:gd name="adj" fmla="val 1800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  <a:effectLst>
            <a:outerShdw sx="100000" sy="100000" kx="0" ky="0" algn="bl" rotWithShape="0" blurRad="203200" dist="762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1737360"/>
            <a:ext cx="118872" cy="118872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7" name="Shape 5"/>
          <p:cNvSpPr/>
          <p:nvPr/>
        </p:nvSpPr>
        <p:spPr>
          <a:xfrm>
            <a:off x="1252728" y="1737360"/>
            <a:ext cx="118872" cy="118872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993392"/>
            <a:ext cx="7360920" cy="0"/>
          </a:xfrm>
          <a:prstGeom prst="line">
            <a:avLst/>
          </a:prstGeom>
          <a:noFill/>
          <a:ln w="12700">
            <a:solidFill>
              <a:srgbClr val="1724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212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Portage AI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PTG-10467 — Laem Chabang → Jebel Ali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2C21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8986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A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3410712"/>
            <a:ext cx="82296" cy="8229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42416" y="3355848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hold flagged — Jebel Ali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2960" y="3776472"/>
            <a:ext cx="82296" cy="8229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42416" y="3721608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get_tracking_events() → hold reason, SLA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142232"/>
            <a:ext cx="82296" cy="8229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42416" y="4087368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estimate_cost_impact() → two options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" y="4544568"/>
            <a:ext cx="6812280" cy="1143000"/>
          </a:xfrm>
          <a:prstGeom prst="roundRect">
            <a:avLst>
              <a:gd name="adj" fmla="val 5600"/>
            </a:avLst>
          </a:prstGeom>
          <a:solidFill>
            <a:srgbClr val="2C2110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654296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A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⏸ Two remediation options — needs your call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983480"/>
            <a:ext cx="6446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Expedite amendment · +$340 · ETA +6h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05840" y="525780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3FC0C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52578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this option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55448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TRY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9600" y="2002536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30768" y="1938528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shipment — trace, tool calls, and guardrail checks are all real DOM state, not a static image.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29600" y="2898648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30768" y="2834640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 an escalation and watch the queue badge, stat tiles, and activity log update live.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29600" y="3794760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30768" y="3730752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drafted customer email inline before sending.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29600" y="4690872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0768" y="4626864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guardrail sliders to see the governance surface an ops lead — not an engineer — would use.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29600" y="5349240"/>
            <a:ext cx="3410712" cy="777240"/>
          </a:xfrm>
          <a:prstGeom prst="roundRect">
            <a:avLst>
              <a:gd name="adj" fmla="val 9412"/>
            </a:avLst>
          </a:prstGeom>
          <a:solidFill>
            <a:srgbClr val="121C21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5440680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568756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 — opens in any browser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PART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5087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included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4414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24414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/ Next / Later, paced by evidence — docs/ROADMAP.md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083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agentic functions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30083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Lane, Watch, Doc &amp; Comms — docs/AGENTS.md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753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 pack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5753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169664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1422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prototype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41422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prototype/index.html — no install, no API keys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4736592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7091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709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docs, and eval plan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5623560"/>
            <a:ext cx="10515600" cy="0"/>
          </a:xfrm>
          <a:prstGeom prst="line">
            <a:avLst/>
          </a:prstGeom>
          <a:noFill/>
          <a:ln w="12700">
            <a:solidFill>
              <a:srgbClr val="1724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852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Dijae  ·  dijae0@gmail.com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172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the opportunity to work through this with you.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2026-09-10T07:55:13Z</dcterms:created>
  <dcterms:modified xsi:type="dcterms:W3CDTF">2026-09-10T07:55:13Z</dcterms:modified>
</cp:coreProperties>
</file>